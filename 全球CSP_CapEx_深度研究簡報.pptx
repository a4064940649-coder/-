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8A04A"/>
                </a:solidFill>
                <a:latin typeface="Microsoft JhengHei"/>
              </a:rPr>
              <a:t>INSTITUTIONAL EQUITY RESEARCH  · 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JhengHei"/>
              </a:rPr>
              <a:t>全球 CSP 資本支出 (CapEx)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JhengHei"/>
              </a:rPr>
              <a:t>深度研究與產業影響分析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C8A04A"/>
                </a:solidFill>
                <a:latin typeface="Microsoft JhengHei"/>
              </a:rPr>
              <a:t>Global Cloud Service Provider CapEx Deep-Dive  ·  2023 – 2026E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JhengHei"/>
              </a:rPr>
              <a:t>涵蓋：Amazon AWS  ·  Microsoft Azure  ·  Google Cloud  ·  Meta  ·  Oracle Cloud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JhengHei"/>
              </a:rPr>
              <a:t>補充：xAI  ·  OpenAI/Stargate  ·  CoreWeave  ·  阿里雲  ·  騰訊雲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JhengHei"/>
              </a:rPr>
              <a:t/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JhengHei"/>
              </a:rPr>
              <a:t>▸ CapEx 全景  ▸ 暴增驅動力  ▸ 資金流向  ▸ AI 供應鏈地圖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JhengHei"/>
              </a:rPr>
              <a:t>▸ 台股受惠族群  ▸ Bull / Base / Bear 情境  ▸ 面試加分洞察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8A04A"/>
                </a:solidFill>
                <a:latin typeface="Microsoft JhengHei"/>
              </a:rPr>
              <a:t>Research Date: June 2026   |   Format: Sell-Side Research Note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36576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JhengHei"/>
              </a:rPr>
              <a:t>① Executive Summary  關鍵結論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C8A04A"/>
                </a:solidFill>
                <a:latin typeface="Microsoft JhengHei"/>
              </a:rPr>
              <a:t>Section EX  |  2/25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8A04A"/>
                </a:solidFill>
                <a:latin typeface="Microsoft JhengHei"/>
              </a:rPr>
              <a:t>全球 CSP 資本支出深度研究  ·  機構級科技產業研究  ·  2026/06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5683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8A04A"/>
                </a:solidFill>
                <a:latin typeface="Microsoft JhengHei"/>
              </a:rPr>
              <a:t>Confidential | For Research 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960120"/>
            <a:ext cx="3703320" cy="2606040"/>
          </a:xfrm>
          <a:prstGeom prst="rect">
            <a:avLst/>
          </a:prstGeom>
          <a:solidFill>
            <a:srgbClr val="F4F6FA"/>
          </a:solidFill>
          <a:ln w="635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960120"/>
            <a:ext cx="109728" cy="260604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09728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JhengHei"/>
              </a:rPr>
              <a:t>1.  史上最大 CapEx 週期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645920"/>
            <a:ext cx="33832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四大美系雲端 CapEx：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2023 ~$145B → 2025 ~$400B → 2026E ~$630–725B (+60~77% YoY)。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五大合計 2026E 逼近 7,000 億美元。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960120"/>
            <a:ext cx="3703320" cy="2606040"/>
          </a:xfrm>
          <a:prstGeom prst="rect">
            <a:avLst/>
          </a:prstGeom>
          <a:solidFill>
            <a:srgbClr val="F4F6FA"/>
          </a:solidFill>
          <a:ln w="635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960120"/>
            <a:ext cx="109728" cy="260604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09728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JhengHei"/>
              </a:rPr>
              <a:t>2.  本質是『供給回應已實現需求』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645920"/>
            <a:ext cx="33832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推論已接棒訓練成主導工作負載；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Google 月處理 token 達千兆級；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Oracle RPO 由 $98B → $638B (+363%)。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『under-invest 風險 &gt; over-invest』。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960120"/>
            <a:ext cx="3703320" cy="2606040"/>
          </a:xfrm>
          <a:prstGeom prst="rect">
            <a:avLst/>
          </a:prstGeom>
          <a:solidFill>
            <a:srgbClr val="F4F6FA"/>
          </a:solidFill>
          <a:ln w="635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960120"/>
            <a:ext cx="109728" cy="260604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09728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JhengHei"/>
              </a:rPr>
              <a:t>3.  資金高度集中於『運算晶片』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1645920"/>
            <a:ext cx="33832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8卡 H100 伺服器 GPU 佔 BOM 約 83%；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B200 BOM：HBM 45% / 邏輯 22% / CoWoS 17%。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鐵三角：NVIDIA → 台積電(CoWoS) → SK海力士(HBM)。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03320"/>
            <a:ext cx="3703320" cy="2606040"/>
          </a:xfrm>
          <a:prstGeom prst="rect">
            <a:avLst/>
          </a:prstGeom>
          <a:solidFill>
            <a:srgbClr val="F4F6FA"/>
          </a:solidFill>
          <a:ln w="635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703320"/>
            <a:ext cx="109728" cy="260604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84048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JhengHei"/>
              </a:rPr>
              <a:t>4.  瓶頸由晶片向實體外溢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389120"/>
            <a:ext cx="33832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三大瓶頸：CoWoS、HBM、電力併網；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變壓器 128 週交期、燃氣輪機 7 年；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近半美國 2026 新建案延宕或取消。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60" y="3703320"/>
            <a:ext cx="3703320" cy="2606040"/>
          </a:xfrm>
          <a:prstGeom prst="rect">
            <a:avLst/>
          </a:prstGeom>
          <a:solidFill>
            <a:srgbClr val="F4F6FA"/>
          </a:solidFill>
          <a:ln w="635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51960" y="3703320"/>
            <a:ext cx="109728" cy="260604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0" y="384048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JhengHei"/>
              </a:rPr>
              <a:t>5.  財務代價已顯性化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389120"/>
            <a:ext cx="33832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Alphabet 2026 FCF 估 -90%；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Amazon FCF 估轉負；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Oracle FY26 FCF -$237 億；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Meta CapEx/Revenue 約 39%。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3703320"/>
            <a:ext cx="3703320" cy="2606040"/>
          </a:xfrm>
          <a:prstGeom prst="rect">
            <a:avLst/>
          </a:prstGeom>
          <a:solidFill>
            <a:srgbClr val="F4F6FA"/>
          </a:solidFill>
          <a:ln w="635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60" y="3703320"/>
            <a:ext cx="109728" cy="260604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384048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JhengHei"/>
              </a:rPr>
              <a:t>6.  台股是全球核心受惠地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4389120"/>
            <a:ext cx="33832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CoWoS 2330、3711、3443；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ODM 2317/2382/6669/3231；散熱 3324/3017；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電源 2308；連接器 3533/3665；光通訊 3081/3105。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36576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JhengHei"/>
              </a:rPr>
              <a:t>① Executive Summary  ·  一句話投資結論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C8A04A"/>
                </a:solidFill>
                <a:latin typeface="Microsoft JhengHei"/>
              </a:rPr>
              <a:t>Section EX  |  3/25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8A04A"/>
                </a:solidFill>
                <a:latin typeface="Microsoft JhengHei"/>
              </a:rPr>
              <a:t>全球 CSP 資本支出深度研究  ·  機構級科技產業研究  ·  2026/06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5683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8A04A"/>
                </a:solidFill>
                <a:latin typeface="Microsoft JhengHei"/>
              </a:rPr>
              <a:t>Confidential | For Research 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188720"/>
            <a:ext cx="11064240" cy="2286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8A04A"/>
                </a:solidFill>
                <a:latin typeface="Microsoft JhengHei"/>
              </a:rPr>
              <a:t>INVESTMENT 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10332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JhengHei"/>
              </a:rPr>
              <a:t>在『軍備競賽尚未見頂、瓶頸由晶片外溢至電力與封裝、</a:t>
            </a:r>
          </a:p>
          <a:p>
            <a:pPr algn="l"/>
            <a:r>
              <a:rPr sz="1800" b="1">
                <a:solidFill>
                  <a:srgbClr val="FFFFFF"/>
                </a:solidFill>
                <a:latin typeface="Microsoft JhengHei"/>
              </a:rPr>
              <a:t>  財務壓力開始浮現』的格局下——</a:t>
            </a:r>
          </a:p>
          <a:p>
            <a:pPr algn="l"/>
            <a:r>
              <a:rPr sz="1800" b="1">
                <a:solidFill>
                  <a:srgbClr val="FFFFFF"/>
                </a:solidFill>
                <a:latin typeface="Microsoft JhengHei"/>
              </a:rPr>
              <a:t/>
            </a:r>
          </a:p>
          <a:p>
            <a:pPr algn="l"/>
            <a:r>
              <a:rPr sz="1800" b="1">
                <a:solidFill>
                  <a:srgbClr val="FFFFFF"/>
                </a:solidFill>
                <a:latin typeface="Microsoft JhengHei"/>
              </a:rPr>
              <a:t>確定性最高的不是 AI 應用變現者，</a:t>
            </a:r>
          </a:p>
          <a:p>
            <a:pPr algn="l"/>
            <a:r>
              <a:rPr sz="1800" b="1">
                <a:solidFill>
                  <a:srgbClr val="FFFFFF"/>
                </a:solidFill>
                <a:latin typeface="Microsoft JhengHei"/>
              </a:rPr>
              <a:t>而是『不可替代的瓶頸環節』。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49039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Microsoft JhengHei"/>
              </a:rPr>
              <a:t>▸  最值得超配的三大環節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297680"/>
            <a:ext cx="137160" cy="5943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34340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JhengHei"/>
              </a:rPr>
              <a:t>CoWoS / 先進製程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34340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Microsoft JhengHei"/>
              </a:rPr>
              <a:t>台積電 2330、日月光投控 3711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34340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JhengHei"/>
              </a:rPr>
              <a:t>賣方市場、產能全數售罄至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010912"/>
            <a:ext cx="137160" cy="5943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056632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JhengHei"/>
              </a:rPr>
              <a:t>HBM / 記憶體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5056632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Microsoft JhengHei"/>
              </a:rPr>
              <a:t>SK 海力士、Micron、Samsung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056632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JhengHei"/>
              </a:rPr>
              <a:t>B200 BOM 45%、Rubin 估佔 25%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724144"/>
            <a:ext cx="137160" cy="5943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769864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JhengHei"/>
              </a:rPr>
              <a:t>電力 / 散熱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5769864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Microsoft JhengHei"/>
              </a:rPr>
              <a:t>台達電 2308、雙鴻 3324、奇鋐 3017、Vertiv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5769864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JhengHei"/>
              </a:rPr>
              <a:t>下一個外溢瓶頸、訂單能見度長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36576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JhengHei"/>
              </a:rPr>
              <a:t>① CSP CapEx 全景分析 — 近三年絕對值 ＋ 2026 指引 (USD bn)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C8A04A"/>
                </a:solidFill>
                <a:latin typeface="Microsoft JhengHei"/>
              </a:rPr>
              <a:t>Section 1  |  4/25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8A04A"/>
                </a:solidFill>
                <a:latin typeface="Microsoft JhengHei"/>
              </a:rPr>
              <a:t>全球 CSP 資本支出深度研究  ·  機構級科技產業研究  ·  2026/06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5683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8A04A"/>
                </a:solidFill>
                <a:latin typeface="Microsoft JhengHei"/>
              </a:rPr>
              <a:t>Confidential | For Research Use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960120"/>
          <a:ext cx="11429996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1351"/>
                <a:gridCol w="1029729"/>
                <a:gridCol w="1029729"/>
                <a:gridCol w="1338648"/>
                <a:gridCol w="1956486"/>
                <a:gridCol w="1544594"/>
                <a:gridCol w="2059459"/>
              </a:tblGrid>
              <a:tr h="483325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公司 / 口徑</a:t>
                      </a:r>
                    </a:p>
                  </a:txBody>
                  <a:tcPr marL="54864" marR="54864" marT="27432" marB="27432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2023</a:t>
                      </a:r>
                    </a:p>
                  </a:txBody>
                  <a:tcPr marL="54864" marR="54864" marT="27432" marB="27432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2024</a:t>
                      </a:r>
                    </a:p>
                  </a:txBody>
                  <a:tcPr marL="54864" marR="54864" marT="27432" marB="27432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2025</a:t>
                      </a:r>
                    </a:p>
                  </a:txBody>
                  <a:tcPr marL="54864" marR="54864" marT="27432" marB="27432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2026E 指引</a:t>
                      </a:r>
                    </a:p>
                  </a:txBody>
                  <a:tcPr marL="54864" marR="54864" marT="27432" marB="27432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3年 CAGR (23→26E)</a:t>
                      </a:r>
                    </a:p>
                  </a:txBody>
                  <a:tcPr marL="54864" marR="54864" marT="27432" marB="27432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主來源</a:t>
                      </a:r>
                    </a:p>
                  </a:txBody>
                  <a:tcPr marL="54864" marR="54864" marT="27432" marB="27432">
                    <a:solidFill>
                      <a:srgbClr val="0B1F3A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Microsoft JhengHei"/>
                        </a:rPr>
                        <a:t>Amazon (PP&amp;E)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JhengHei"/>
                        </a:rPr>
                        <a:t>48.1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JhengHei"/>
                        </a:rPr>
                        <a:t>77.7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JhengHei"/>
                        </a:rPr>
                        <a:t>~118–125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JhengHei"/>
                        </a:rPr>
                        <a:t>~200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JhengHei"/>
                        </a:rPr>
                        <a:t>~60%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JhengHei"/>
                        </a:rPr>
                        <a:t>10-K / Q4 法說會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Microsoft JhengHei"/>
                        </a:rPr>
                        <a:t>Microsoft (含融資租賃)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JhengHei"/>
                        </a:rPr>
                        <a:t>~28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JhengHei"/>
                        </a:rPr>
                        <a:t>~55.7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JhengHei"/>
                        </a:rPr>
                        <a:t>~88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JhengHei"/>
                        </a:rPr>
                        <a:t>&gt;120 (媒體 ~185–190)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JhengHei"/>
                        </a:rPr>
                        <a:t>~90%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JhengHei"/>
                        </a:rPr>
                        <a:t>8-K / FY 法說會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Microsoft JhengHei"/>
                        </a:rPr>
                        <a:t>Alphabet (PP&amp;E)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JhengHei"/>
                        </a:rPr>
                        <a:t>32.3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JhengHei"/>
                        </a:rPr>
                        <a:t>52.5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JhengHei"/>
                        </a:rPr>
                        <a:t>~91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JhengHei"/>
                        </a:rPr>
                        <a:t>180–190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JhengHei"/>
                        </a:rPr>
                        <a:t>~80%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JhengHei"/>
                        </a:rPr>
                        <a:t>10-K / 8-K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Microsoft JhengHei"/>
                        </a:rPr>
                        <a:t>Meta (PP&amp;E)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JhengHei"/>
                        </a:rPr>
                        <a:t>28.1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JhengHei"/>
                        </a:rPr>
                        <a:t>39.2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JhengHei"/>
                        </a:rPr>
                        <a:t>~70–72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JhengHei"/>
                        </a:rPr>
                        <a:t>125–145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JhengHei"/>
                        </a:rPr>
                        <a:t>~75%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JhengHei"/>
                        </a:rPr>
                        <a:t>10-K / 8-K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Microsoft JhengHei"/>
                        </a:rPr>
                        <a:t>四大合計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JhengHei"/>
                        </a:rPr>
                        <a:t>~145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JhengHei"/>
                        </a:rPr>
                        <a:t>~225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JhengHei"/>
                        </a:rPr>
                        <a:t>~388–410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JhengHei"/>
                        </a:rPr>
                        <a:t>~630–725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JhengHei"/>
                        </a:rPr>
                        <a:t>~67%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JhengHei"/>
                        </a:rPr>
                        <a:t>CNBC / Tom's HW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8333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Microsoft JhengHei"/>
                        </a:rPr>
                        <a:t>Oracle (FY, 5月底)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JhengHei"/>
                        </a:rPr>
                        <a:t>7.0 (FY24)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JhengHei"/>
                        </a:rPr>
                        <a:t>21.2 (FY25)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JhengHei"/>
                        </a:rPr>
                        <a:t>~35+ (FY26)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JhengHei"/>
                        </a:rPr>
                        <a:t>FY27 大幅躍升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JhengHei"/>
                        </a:rPr>
                        <a:t>&gt;70%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JhengHei"/>
                        </a:rPr>
                        <a:t>8-K / 法說會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5760" y="4572000"/>
            <a:ext cx="11430000" cy="1920240"/>
          </a:xfrm>
          <a:prstGeom prst="rect">
            <a:avLst/>
          </a:prstGeom>
          <a:solidFill>
            <a:srgbClr val="F4F6FA"/>
          </a:solidFill>
          <a:ln w="635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709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Microsoft JhengHei"/>
              </a:rPr>
              <a:t>▸  研究員洞察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074920"/>
            <a:ext cx="111556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• 2024 YoY +55% → 2025 +73% → 2026E +60~77%，加速度仍未轉折；五大公司合計 2022→2025 三年 ×2.76 倍。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• Microsoft 投資強度最健康（Azure+M365 雙引擎現金流對沖）；Meta、Oracle 最激進（無對外雲端對沖／槓桿擴張），財務尾部風險最高。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• Oracle RPO：$98B (FY24) → $523B (Q2 FY25) → $638B (FY26, +363%)，其中 Q3/Q4 大型 AI 合約預付/客戶自帶 GPU 達 $750 億——這是『需求真實』最有力證據。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36576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JhengHei"/>
              </a:rPr>
              <a:t>① CSP CapEx 全景 — 財務體質與投資強度 (2025E)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C8A04A"/>
                </a:solidFill>
                <a:latin typeface="Microsoft JhengHei"/>
              </a:rPr>
              <a:t>Section 1  |  5/25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8A04A"/>
                </a:solidFill>
                <a:latin typeface="Microsoft JhengHei"/>
              </a:rPr>
              <a:t>全球 CSP 資本支出深度研究  ·  機構級科技產業研究  ·  2026/06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5683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8A04A"/>
                </a:solidFill>
                <a:latin typeface="Microsoft JhengHei"/>
              </a:rPr>
              <a:t>Confidential | For Research Use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960120"/>
          <a:ext cx="11429998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59"/>
                <a:gridCol w="1280159"/>
                <a:gridCol w="2377440"/>
                <a:gridCol w="1463040"/>
                <a:gridCol w="1371600"/>
                <a:gridCol w="3657600"/>
              </a:tblGrid>
              <a:tr h="5181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公司</a:t>
                      </a:r>
                    </a:p>
                  </a:txBody>
                  <a:tcPr marL="54864" marR="54864" marT="27432" marB="27432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2025 CapEx</a:t>
                      </a:r>
                    </a:p>
                  </a:txBody>
                  <a:tcPr marL="54864" marR="54864" marT="27432" marB="27432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2026 FCF 預估</a:t>
                      </a:r>
                    </a:p>
                  </a:txBody>
                  <a:tcPr marL="54864" marR="54864" marT="27432" marB="27432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CapEx/Revenue</a:t>
                      </a:r>
                    </a:p>
                  </a:txBody>
                  <a:tcPr marL="54864" marR="54864" marT="27432" marB="27432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CapEx/OCF</a:t>
                      </a:r>
                    </a:p>
                  </a:txBody>
                  <a:tcPr marL="54864" marR="54864" marT="27432" marB="27432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財務訊號</a:t>
                      </a:r>
                    </a:p>
                  </a:txBody>
                  <a:tcPr marL="54864" marR="54864" marT="27432" marB="27432">
                    <a:solidFill>
                      <a:srgbClr val="0B1F3A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icrosoft JhengHei"/>
                        </a:rPr>
                        <a:t>Amazon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~$120B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轉負 -$17~-28B (MS/BofA)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~17%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~95–100%+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零售現金流被 AWS CapEx 吃光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icrosoft JhengHei"/>
                        </a:rPr>
                        <a:t>Microsoft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~$88B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仍為正但收斂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~31%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~65–70%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體質最穩、利潤率最高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icrosoft JhengHei"/>
                        </a:rPr>
                        <a:t>Alphabet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~$91B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$73B → ~$8B (-90%, Pivotal)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~23%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~60%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FCF 將急縮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icrosoft JhengHei"/>
                        </a:rPr>
                        <a:t>Meta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~$70–72B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收斂中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~39%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~75%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投資強度最高、無雲端營收對沖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icrosoft JhengHei"/>
                        </a:rPr>
                        <a:t>Oracle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~$21B (FY25)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FY26: -$23.7B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~37%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轉負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槓桿擴張、賭 OCI 放量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5760" y="4297680"/>
            <a:ext cx="5486400" cy="2194560"/>
          </a:xfrm>
          <a:prstGeom prst="rect">
            <a:avLst/>
          </a:prstGeom>
          <a:solidFill>
            <a:srgbClr val="F4F6FA"/>
          </a:solidFill>
          <a:ln w="635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407408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Microsoft JhengHei"/>
              </a:rPr>
              <a:t>▸  新雲與中國雲補充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754880"/>
            <a:ext cx="53035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• OpenAI / Stargate：$500B 四年計畫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• xAI Colossus：田納西 Memphis、GW 級電力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• CoreWeave：GPU 抵押、高槓桿擴張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• 阿里雲：三年 3,800 億 RMB (~$530 億)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• 騰訊雲：受美高階 GPU 出口管制制約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4297680"/>
            <a:ext cx="5760720" cy="2194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440740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8A04A"/>
                </a:solidFill>
                <a:latin typeface="Microsoft JhengHei"/>
              </a:rPr>
              <a:t>▸  關鍵洞察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4754880"/>
            <a:ext cx="54864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JhengHei"/>
              </a:rPr>
              <a:t>『現金流斷頭』是 2026 年市場最大爭點：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Microsoft JhengHei"/>
              </a:rPr>
              <a:t>Alphabet FCF 估降 90%、Amazon 轉負、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Microsoft JhengHei"/>
              </a:rPr>
              <a:t>Oracle 大幅負值——但 Microsoft 仍能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Microsoft JhengHei"/>
              </a:rPr>
              <a:t>用雙引擎現金流支撐 CapEx，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Microsoft JhengHei"/>
              </a:rPr>
              <a:t>這是它估值溢價的核心理由。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36576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JhengHei"/>
              </a:rPr>
              <a:t>② CapEx 為何暴增？ — 需求側『五層放大器』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C8A04A"/>
                </a:solidFill>
                <a:latin typeface="Microsoft JhengHei"/>
              </a:rPr>
              <a:t>Section 2  |  6/25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8A04A"/>
                </a:solidFill>
                <a:latin typeface="Microsoft JhengHei"/>
              </a:rPr>
              <a:t>全球 CSP 資本支出深度研究  ·  機構級科技產業研究  ·  2026/06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5683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8A04A"/>
                </a:solidFill>
                <a:latin typeface="Microsoft JhengHei"/>
              </a:rPr>
              <a:t>Confidential | For Research 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005840"/>
            <a:ext cx="457200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801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C8A04A"/>
                </a:solidFill>
                <a:latin typeface="Microsoft JhengHe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1005840"/>
            <a:ext cx="10927080" cy="914400"/>
          </a:xfrm>
          <a:prstGeom prst="rect">
            <a:avLst/>
          </a:prstGeom>
          <a:solidFill>
            <a:srgbClr val="F4F6FA"/>
          </a:solidFill>
          <a:ln w="635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10972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JhengHei"/>
              </a:rPr>
              <a:t>①  AI 模型規模成長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4630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GPT/Gemini/Claude/Llama 每代訓練算力 ×4–10；叢集由萬卡走向 10 萬卡、GW 級。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84832"/>
            <a:ext cx="457200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35915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C8A04A"/>
                </a:solidFill>
                <a:latin typeface="Microsoft JhengHei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2084832"/>
            <a:ext cx="10927080" cy="914400"/>
          </a:xfrm>
          <a:prstGeom prst="rect">
            <a:avLst/>
          </a:prstGeom>
          <a:solidFill>
            <a:srgbClr val="F4F6FA"/>
          </a:solidFill>
          <a:ln w="635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17627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JhengHei"/>
              </a:rPr>
              <a:t>②  Token 需求暴增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54203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Google 月處理 token 達千兆 (quadrillion) 級並持續倍增——token ≒ 雲端 CapEx 計費單位。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163824"/>
            <a:ext cx="457200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43814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C8A04A"/>
                </a:solidFill>
                <a:latin typeface="Microsoft JhengHei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3163824"/>
            <a:ext cx="10927080" cy="914400"/>
          </a:xfrm>
          <a:prstGeom prst="rect">
            <a:avLst/>
          </a:prstGeom>
          <a:solidFill>
            <a:srgbClr val="F4F6FA"/>
          </a:solidFill>
          <a:ln w="635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3255264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JhengHei"/>
              </a:rPr>
              <a:t>③  推論 (Inference) 需求爆發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621024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Reasoning model 單次查詢 token ×10–100；推論已成為主導工作負載——可即時變現。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242816"/>
            <a:ext cx="457200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51713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C8A04A"/>
                </a:solidFill>
                <a:latin typeface="Microsoft JhengHei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4242816"/>
            <a:ext cx="10927080" cy="914400"/>
          </a:xfrm>
          <a:prstGeom prst="rect">
            <a:avLst/>
          </a:prstGeom>
          <a:solidFill>
            <a:srgbClr val="F4F6FA"/>
          </a:solidFill>
          <a:ln w="635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4334256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JhengHei"/>
              </a:rPr>
              <a:t>④  Agentic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700016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Agent = 規劃→工具→反思→再呼叫；單一任務觸發數十至數百次推論，再放大一個量級。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321808"/>
            <a:ext cx="457200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559612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C8A04A"/>
                </a:solidFill>
                <a:latin typeface="Microsoft JhengHei"/>
              </a:rP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" y="5321808"/>
            <a:ext cx="10927080" cy="914400"/>
          </a:xfrm>
          <a:prstGeom prst="rect">
            <a:avLst/>
          </a:prstGeom>
          <a:solidFill>
            <a:srgbClr val="F4F6FA"/>
          </a:solidFill>
          <a:ln w="635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541324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JhengHei"/>
              </a:rPr>
              <a:t>⑤  AI 搜尋與 AI 辦公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77900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AI Overviews / Copilot / Gemini 嵌入每次搜尋、郵件、文件——把實驗轉為全民日常負載。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36576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JhengHei"/>
              </a:rPr>
              <a:t>② 為何雲端巨頭願意投入數百億？ — ROI 邏輯推導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C8A04A"/>
                </a:solidFill>
                <a:latin typeface="Microsoft JhengHei"/>
              </a:rPr>
              <a:t>Section 2  |  7/25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8A04A"/>
                </a:solidFill>
                <a:latin typeface="Microsoft JhengHei"/>
              </a:rPr>
              <a:t>全球 CSP 資本支出深度研究  ·  機構級科技產業研究  ·  2026/06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5683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8A04A"/>
                </a:solidFill>
                <a:latin typeface="Microsoft JhengHei"/>
              </a:rPr>
              <a:t>Confidential | For Research Use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960120"/>
          <a:ext cx="114300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577840"/>
                <a:gridCol w="3657600"/>
              </a:tblGrid>
              <a:tr h="7315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推導角度</a:t>
                      </a:r>
                    </a:p>
                  </a:txBody>
                  <a:tcPr marL="54864" marR="54864" marT="27432" marB="27432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邏輯</a:t>
                      </a:r>
                    </a:p>
                  </a:txBody>
                  <a:tcPr marL="54864" marR="54864" marT="27432" marB="27432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證據</a:t>
                      </a:r>
                    </a:p>
                  </a:txBody>
                  <a:tcPr marL="54864" marR="54864" marT="27432" marB="27432">
                    <a:solidFill>
                      <a:srgbClr val="0B1F3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icrosoft JhengHei"/>
                        </a:rPr>
                        <a:t>1. 機會成本 &gt; 投資成本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平台轉移期，輸掉容量＝輸掉下一個十年雲端市佔；『under-invest 風險 &gt; over-invest』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Nadella / Pichai / Zuckerberg 法說會一致口徑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icrosoft JhengHei"/>
                        </a:rPr>
                        <a:t>2. 需求受供給約束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雲端業者反覆表示：『我們被容量限制，不是被需求限制』——蓋多少賣多少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MS / Google / Oracle 多次法說會；Oracle RPO $638B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icrosoft JhengHei"/>
                        </a:rPr>
                        <a:t>3. 基礎設施可重配置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GPU 與資料中心今天訓練、明天推論、後天內部產品——資產用途可轉換，降低押錯風險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Amazon / Meta 管理層論述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icrosoft JhengHei"/>
                        </a:rPr>
                        <a:t>4. 變現路徑已出現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Azure AI 為 Azure 成長主力；AWS / GCP backlog 創高；Oracle OCI 預定 FY29 達 $1,440 億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各雲端營收與 backlog / RPO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icrosoft JhengHei"/>
                        </a:rPr>
                        <a:t>5. 折舊攤提 ＋ 雲端毛利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伺服器 5–6 年折舊；搭配高毛利雲端服務，理論 IRR 為正——前提是利用率維持高檔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各公司折舊政策（Bear 爭點：見第 6 部分）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5760" y="5577840"/>
            <a:ext cx="11430000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7150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JhengHei"/>
              </a:rPr>
              <a:t>▸  本質洞察：這是一場『容量軍備競賽下的囚徒困境』——只要對手在蓋，沒人敢停。</a:t>
            </a:r>
          </a:p>
          <a:p>
            <a:pPr algn="l"/>
            <a:r>
              <a:rPr sz="1300" b="1">
                <a:solidFill>
                  <a:srgbClr val="FFFFFF"/>
                </a:solidFill>
                <a:latin typeface="Microsoft JhengHei"/>
              </a:rPr>
              <a:t>     理性個體決策（不能落後）匯總成總體過度投資傾向，既是 Bull 也是 Bear 的根源。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36576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JhengHei"/>
              </a:rPr>
              <a:t>③ CapEx 投資流向拆解 — 一美元 AI CapEx 流向哪裡？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C8A04A"/>
                </a:solidFill>
                <a:latin typeface="Microsoft JhengHei"/>
              </a:rPr>
              <a:t>Section 3  |  8/25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8A04A"/>
                </a:solidFill>
                <a:latin typeface="Microsoft JhengHei"/>
              </a:rPr>
              <a:t>全球 CSP 資本支出深度研究  ·  機構級科技產業研究  ·  2026/06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5683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8A04A"/>
                </a:solidFill>
                <a:latin typeface="Microsoft JhengHei"/>
              </a:rPr>
              <a:t>Confidential | For Research 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960120"/>
            <a:ext cx="5029200" cy="5486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8A04A"/>
                </a:solidFill>
                <a:latin typeface="Microsoft JhengHei"/>
              </a:rPr>
              <a:t>1 GW AI 資料中心 ≈ $380 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087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JhengHei"/>
              </a:rPr>
              <a:t>（Epoch AI 模型）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116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</a:rPr>
              <a:t>IT 設備 (伺服器+網路)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423160"/>
            <a:ext cx="4572000" cy="3657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6888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JhengHei"/>
              </a:rPr>
              <a:t>~60–63%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9718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</a:rPr>
              <a:t>廠房 / 電力 / 散熱 / 土地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383280"/>
            <a:ext cx="2926080" cy="36576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4290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</a:rPr>
              <a:t>~35–40%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023360"/>
            <a:ext cx="47548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JhengHei"/>
              </a:rPr>
              <a:t>參考錨點：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Microsoft JhengHei"/>
              </a:rPr>
              <a:t>• AI 伺服器 2024 $187B (+69%, 佔 65%)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Microsoft JhengHei"/>
              </a:rPr>
              <a:t>• AI 伺服器 2025 $298B → 2026 佔 74%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Microsoft JhengHei"/>
              </a:rPr>
              <a:t>• IDC：2025 伺服器市場 $444B (+80%)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Microsoft JhengHei"/>
              </a:rPr>
              <a:t>• GPU 加速伺服器已佔逾半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577840" y="960120"/>
          <a:ext cx="6217918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2295"/>
                <a:gridCol w="1802295"/>
                <a:gridCol w="811033"/>
                <a:gridCol w="1802295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項目</a:t>
                      </a:r>
                    </a:p>
                  </a:txBody>
                  <a:tcPr marL="54864" marR="54864" marT="27432" marB="27432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估算占比</a:t>
                      </a:r>
                    </a:p>
                  </a:txBody>
                  <a:tcPr marL="54864" marR="54864" marT="27432" marB="27432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成長</a:t>
                      </a:r>
                    </a:p>
                  </a:txBody>
                  <a:tcPr marL="54864" marR="54864" marT="27432" marB="27432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瓶頸 / 來源</a:t>
                      </a:r>
                    </a:p>
                  </a:txBody>
                  <a:tcPr marL="54864" marR="54864" marT="27432" marB="27432"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Microsoft JhengHei"/>
                        </a:rPr>
                        <a:t>AI 伺服器 (整機)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最大單一項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極高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整合產能 / CoWoS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Microsoft JhengHei"/>
                        </a:rPr>
                        <a:t>└ GPU/加速器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AI 伺服器 BOM 70–83%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極高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晶片產能 (SemiAnalysis)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Microsoft JhengHei"/>
                        </a:rPr>
                        <a:t>└ HBM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B200 BOM 45% (~$2,900/$6,400)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爆發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售罄至 2026 (TrendForce)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Microsoft JhengHei"/>
                        </a:rPr>
                        <a:t>└ 邏輯晶粒 / CoWoS-L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B200: 22% / 17%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高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CoWoS 售罄 (TrendForce)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Microsoft JhengHei"/>
                        </a:rPr>
                        <a:t>└ CPU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個位數 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平穩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Microsoft JhengHei"/>
                        </a:rPr>
                        <a:t>└ NAND / eSSD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~14.7% (CPU server)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高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+70% QoQ (TrendForce)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Microsoft JhengHei"/>
                        </a:rPr>
                        <a:t>網路交換器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~10–15%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高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800G/1.6T 切換 (Dell'Oro)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Microsoft JhengHei"/>
                        </a:rPr>
                        <a:t>光模組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隨 GPU 線性成長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2.6x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EML 雷射 (LightCounting)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Microsoft JhengHei"/>
                        </a:rPr>
                        <a:t>液冷系統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隨 GB200/300 滲透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爆發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CDU/快接頭 (Dell'Oro)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Microsoft JhengHei"/>
                        </a:rPr>
                        <a:t>電力設備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廠房側大項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高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電網併網/變壓器 (IEA)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Microsoft JhengHei"/>
                        </a:rPr>
                        <a:t>資料中心建置/土地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占 35–40% 之主體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高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土地 / 電力配額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36576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JhengHei"/>
              </a:rPr>
              <a:t>③ 關鍵零組件市場數據 — 成長速度與瓶頸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C8A04A"/>
                </a:solidFill>
                <a:latin typeface="Microsoft JhengHei"/>
              </a:rPr>
              <a:t>Section 3  |  9/25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8A04A"/>
                </a:solidFill>
                <a:latin typeface="Microsoft JhengHei"/>
              </a:rPr>
              <a:t>全球 CSP 資本支出深度研究  ·  機構級科技產業研究  ·  2026/06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5683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8A04A"/>
                </a:solidFill>
                <a:latin typeface="Microsoft JhengHei"/>
              </a:rPr>
              <a:t>Confidential | For Research Use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960120"/>
          <a:ext cx="1161288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463040"/>
                <a:gridCol w="3291840"/>
                <a:gridCol w="329184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環節</a:t>
                      </a:r>
                    </a:p>
                  </a:txBody>
                  <a:tcPr marL="54864" marR="54864" marT="27432" marB="27432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市場規模</a:t>
                      </a:r>
                    </a:p>
                  </a:txBody>
                  <a:tcPr marL="54864" marR="54864" marT="27432" marB="27432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成長速度</a:t>
                      </a:r>
                    </a:p>
                  </a:txBody>
                  <a:tcPr marL="54864" marR="54864" marT="27432" marB="27432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瓶頸 / 關鍵數據</a:t>
                      </a:r>
                    </a:p>
                  </a:txBody>
                  <a:tcPr marL="54864" marR="54864" marT="27432" marB="27432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受惠者</a:t>
                      </a:r>
                    </a:p>
                  </a:txBody>
                  <a:tcPr marL="54864" marR="54864" marT="27432" marB="27432">
                    <a:solidFill>
                      <a:srgbClr val="0B1F3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Microsoft JhengHei"/>
                        </a:rPr>
                        <a:t>HBM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$18.2B (2024) → $46.7B (2025)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+156% YoY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SK 海力士、Micron 2026 產能全數售罄；HBM 佔 DRAM 產值 ~33%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SK Hynix / Micron / Samsung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Microsoft JhengHei"/>
                        </a:rPr>
                        <a:t>NAND / eSSD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4Q25 eSSD +28% QoQ (~$6.54B)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1Q26 +53–58%、2Q26 +70–75% QoQ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QLC 122TB/245TB；AI 推論需求結構性轉變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Solidigm / SanDisk / Kioxia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Microsoft JhengHei"/>
                        </a:rPr>
                        <a:t>CoWoS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2024 ~3.5–4 萬片/月 → 2025 ~7.5 萬 → 2026 目標 12–13 萬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CAGR &gt;50%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NVIDIA 預訂 &gt;60%；CoWoS-L/S 已售罄；交期 50+ 週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台積電 2330 / 日月光 3711 / Amkor / 創意 3443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Microsoft JhengHei"/>
                        </a:rPr>
                        <a:t>光模組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整體市場 &gt;$230 億 (2025, +50%); 800G+ 由 2,400 萬 → 6,300 萬顆 (2026)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+2.6x YoY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200G/lane EML 雷射緊缺；NVIDIA 砸 $40 億鎖定 Lumentum / Coherent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InnoLight / Coherent / Lumentum / Fabrinet; 聯亞 3081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Microsoft JhengHei"/>
                        </a:rPr>
                        <a:t>網路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DC 交換器 2025Q3 創 $80 億／季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AI 後端以太網佔比 &lt;50% → 2/3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NVIDIA 網路單季 $81.9 億 (+162%)；Broadcom AI FY26 ~$56B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NVIDIA / Arista / Cisco / Broadcom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Microsoft JhengHei"/>
                        </a:rPr>
                        <a:t>液冷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$30 億 (2025) → $70 億 (2029)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CAGR ~20%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GB200/300 標配；單櫃液冷 ~$50K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Vertiv / 雙鴻 3324 / 奇鋐 3017 / 台達 2308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Microsoft JhengHei"/>
                        </a:rPr>
                        <a:t>電力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Vertiv 在手單 $150 億 (+109%); Eaton DC 在手 228 GW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資料中心用電 2025 +17%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變壓器 128 週、燃氣輪機 7 年；近半 2026 美國新建案延宕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Vertiv / Eaton / GE Vernova / 台達 2308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36576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JhengHei"/>
              </a:rPr>
              <a:t>③ 機櫃級成本經濟學 — GB200 → GB300 → Vera Rubin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C8A04A"/>
                </a:solidFill>
                <a:latin typeface="Microsoft JhengHei"/>
              </a:rPr>
              <a:t>Section 3  |  10/25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8A04A"/>
                </a:solidFill>
                <a:latin typeface="Microsoft JhengHei"/>
              </a:rPr>
              <a:t>全球 CSP 資本支出深度研究  ·  機構級科技產業研究  ·  2026/06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5683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8A04A"/>
                </a:solidFill>
                <a:latin typeface="Microsoft JhengHei"/>
              </a:rPr>
              <a:t>Confidential | For Research 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840480"/>
            <a:ext cx="2560320" cy="1645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553212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Microsoft JhengHei"/>
              </a:rPr>
              <a:t>GB200 NVL72</a:t>
            </a:r>
          </a:p>
          <a:p>
            <a:pPr algn="ctr"/>
            <a:r>
              <a:rPr sz="1300" b="1">
                <a:solidFill>
                  <a:srgbClr val="0B1F3A"/>
                </a:solidFill>
                <a:latin typeface="Microsoft JhengHei"/>
              </a:rPr>
              <a:t>~$3.0M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2560320"/>
            <a:ext cx="2560320" cy="2926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553212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Microsoft JhengHei"/>
              </a:rPr>
              <a:t>GB300 NVL72</a:t>
            </a:r>
          </a:p>
          <a:p>
            <a:pPr algn="ctr"/>
            <a:r>
              <a:rPr sz="1300" b="1">
                <a:solidFill>
                  <a:srgbClr val="0B1F3A"/>
                </a:solidFill>
                <a:latin typeface="Microsoft JhengHei"/>
              </a:rPr>
              <a:t>~$6.0–6.5M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828800"/>
            <a:ext cx="2560320" cy="365760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553212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Microsoft JhengHei"/>
              </a:rPr>
              <a:t>Vera Rubin VR200 NVL72</a:t>
            </a:r>
          </a:p>
          <a:p>
            <a:pPr algn="ctr"/>
            <a:r>
              <a:rPr sz="1300" b="1">
                <a:solidFill>
                  <a:srgbClr val="0B1F3A"/>
                </a:solidFill>
                <a:latin typeface="Microsoft JhengHei"/>
              </a:rPr>
              <a:t>~$7.8M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Microsoft JhengHei"/>
              </a:rPr>
              <a:t>▸  每一代 NVLink 機櫃的記憶體含量正快速吃掉成本結構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141732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JhengHei"/>
              </a:rPr>
              <a:t>Vera Rubin：HBM4+LPDDR5X 達 $2M (佔 25%, vs GB300 +485%)；NAND 由 ~0 → $1M+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6309360"/>
            <a:ext cx="1143000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345936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8A04A"/>
                </a:solidFill>
                <a:latin typeface="Microsoft JhengHei"/>
              </a:rPr>
              <a:t>洞察：HBM／儲存供應鏈是『含量倍增』結構性順風；ODM 自 Vera Rubin 起恐被收斂至 L10，毛利承壓。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36576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JhengHei"/>
              </a:rPr>
              <a:t>④ AI Infrastructure 供應鏈地圖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C8A04A"/>
                </a:solidFill>
                <a:latin typeface="Microsoft JhengHei"/>
              </a:rPr>
              <a:t>Section 4  |  11/25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8A04A"/>
                </a:solidFill>
                <a:latin typeface="Microsoft JhengHei"/>
              </a:rPr>
              <a:t>全球 CSP 資本支出深度研究  ·  機構級科技產業研究  ·  2026/06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5683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8A04A"/>
                </a:solidFill>
                <a:latin typeface="Microsoft JhengHei"/>
              </a:rPr>
              <a:t>Confidential | For Research 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960120"/>
            <a:ext cx="2377440" cy="5943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JhengHei"/>
              </a:rPr>
              <a:t>CSP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960120"/>
            <a:ext cx="9052560" cy="594360"/>
          </a:xfrm>
          <a:prstGeom prst="rect">
            <a:avLst/>
          </a:prstGeom>
          <a:solidFill>
            <a:srgbClr val="F4F6FA"/>
          </a:solidFill>
          <a:ln w="635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1097280"/>
            <a:ext cx="8869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Amazon · Microsoft · Google · Meta · Oracle · OpenAI · xAI · 阿里 · 騰訊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1463040" y="1554480"/>
            <a:ext cx="274320" cy="91440"/>
          </a:xfrm>
          <a:prstGeom prst="downArrow">
            <a:avLst/>
          </a:prstGeom>
          <a:solidFill>
            <a:srgbClr val="C8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645920"/>
            <a:ext cx="2377440" cy="5943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7830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JhengHei"/>
              </a:rPr>
              <a:t>資料中心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1645920"/>
            <a:ext cx="9052560" cy="594360"/>
          </a:xfrm>
          <a:prstGeom prst="rect">
            <a:avLst/>
          </a:prstGeom>
          <a:solidFill>
            <a:srgbClr val="F4F6FA"/>
          </a:solidFill>
          <a:ln w="635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360" y="1783080"/>
            <a:ext cx="8869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土地 / 廠房 / 電力 / 併網 — Vertiv / Eaton / Schneider / GE Vernova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1463040" y="2240280"/>
            <a:ext cx="274320" cy="91440"/>
          </a:xfrm>
          <a:prstGeom prst="downArrow">
            <a:avLst/>
          </a:prstGeom>
          <a:solidFill>
            <a:srgbClr val="C8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331720"/>
            <a:ext cx="2377440" cy="5943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4688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JhengHei"/>
              </a:rPr>
              <a:t>伺服器 / 機櫃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2331720"/>
            <a:ext cx="9052560" cy="594360"/>
          </a:xfrm>
          <a:prstGeom prst="rect">
            <a:avLst/>
          </a:prstGeom>
          <a:solidFill>
            <a:srgbClr val="F4F6FA"/>
          </a:solidFill>
          <a:ln w="635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80360" y="2468880"/>
            <a:ext cx="8869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鴻海 2317 · 廣達 2382 · 緯穎 6669 · 緯創 3231 · 英業達 2356 · Supermicro · Dell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1463040" y="2926080"/>
            <a:ext cx="274320" cy="91440"/>
          </a:xfrm>
          <a:prstGeom prst="downArrow">
            <a:avLst/>
          </a:prstGeom>
          <a:solidFill>
            <a:srgbClr val="C8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017520"/>
            <a:ext cx="2377440" cy="5943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1546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JhengHei"/>
              </a:rPr>
              <a:t>GPU / 加速器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3017520"/>
            <a:ext cx="9052560" cy="594360"/>
          </a:xfrm>
          <a:prstGeom prst="rect">
            <a:avLst/>
          </a:prstGeom>
          <a:solidFill>
            <a:srgbClr val="F4F6FA"/>
          </a:solidFill>
          <a:ln w="635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80360" y="3154680"/>
            <a:ext cx="8869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NVIDIA · AMD · Broadcom (ASIC) · Marvell · TPU / Trainium / Maia / MTIA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1463040" y="3611880"/>
            <a:ext cx="274320" cy="91440"/>
          </a:xfrm>
          <a:prstGeom prst="downArrow">
            <a:avLst/>
          </a:prstGeom>
          <a:solidFill>
            <a:srgbClr val="C8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3703320"/>
            <a:ext cx="2377440" cy="5943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8404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JhengHei"/>
              </a:rPr>
              <a:t>製造 / 封裝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3703320"/>
            <a:ext cx="9052560" cy="594360"/>
          </a:xfrm>
          <a:prstGeom prst="rect">
            <a:avLst/>
          </a:prstGeom>
          <a:solidFill>
            <a:srgbClr val="F4F6FA"/>
          </a:solidFill>
          <a:ln w="635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80360" y="3840480"/>
            <a:ext cx="8869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台積電 2330 · 日月光 3711 · 創意 3443 · Amkor · Intel 18A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1463040" y="4297680"/>
            <a:ext cx="274320" cy="91440"/>
          </a:xfrm>
          <a:prstGeom prst="downArrow">
            <a:avLst/>
          </a:prstGeom>
          <a:solidFill>
            <a:srgbClr val="C8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4389120"/>
            <a:ext cx="2377440" cy="5943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5262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JhengHei"/>
              </a:rPr>
              <a:t>記憶體 (HBM)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0" y="4389120"/>
            <a:ext cx="9052560" cy="594360"/>
          </a:xfrm>
          <a:prstGeom prst="rect">
            <a:avLst/>
          </a:prstGeom>
          <a:solidFill>
            <a:srgbClr val="F4F6FA"/>
          </a:solidFill>
          <a:ln w="635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80360" y="4526280"/>
            <a:ext cx="8869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SK Hynix · Samsung · Micron</a:t>
            </a:r>
          </a:p>
        </p:txBody>
      </p:sp>
      <p:sp>
        <p:nvSpPr>
          <p:cNvPr id="38" name="Down Arrow 37"/>
          <p:cNvSpPr/>
          <p:nvPr/>
        </p:nvSpPr>
        <p:spPr>
          <a:xfrm>
            <a:off x="1463040" y="4983480"/>
            <a:ext cx="274320" cy="91440"/>
          </a:xfrm>
          <a:prstGeom prst="downArrow">
            <a:avLst/>
          </a:prstGeom>
          <a:solidFill>
            <a:srgbClr val="C8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5074920"/>
            <a:ext cx="2377440" cy="5943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2120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JhengHei"/>
              </a:rPr>
              <a:t>網通 / 光通訊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0" y="5074920"/>
            <a:ext cx="9052560" cy="594360"/>
          </a:xfrm>
          <a:prstGeom prst="rect">
            <a:avLst/>
          </a:prstGeom>
          <a:solidFill>
            <a:srgbClr val="F4F6FA"/>
          </a:solidFill>
          <a:ln w="635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80360" y="5212080"/>
            <a:ext cx="8869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Arista · Cisco · Broadcom · NVIDIA / InnoLight · Coherent · Lumentum / 3081 · 3105</a:t>
            </a:r>
          </a:p>
        </p:txBody>
      </p:sp>
      <p:sp>
        <p:nvSpPr>
          <p:cNvPr id="43" name="Down Arrow 42"/>
          <p:cNvSpPr/>
          <p:nvPr/>
        </p:nvSpPr>
        <p:spPr>
          <a:xfrm>
            <a:off x="1463040" y="5669280"/>
            <a:ext cx="274320" cy="91440"/>
          </a:xfrm>
          <a:prstGeom prst="downArrow">
            <a:avLst/>
          </a:prstGeom>
          <a:solidFill>
            <a:srgbClr val="C8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65760" y="5760720"/>
            <a:ext cx="2377440" cy="5943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58978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JhengHei"/>
              </a:rPr>
              <a:t>散熱 / 電力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0" y="5760720"/>
            <a:ext cx="9052560" cy="594360"/>
          </a:xfrm>
          <a:prstGeom prst="rect">
            <a:avLst/>
          </a:prstGeom>
          <a:solidFill>
            <a:srgbClr val="F4F6FA"/>
          </a:solidFill>
          <a:ln w="635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880360" y="5897880"/>
            <a:ext cx="8869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Vertiv · Boyd / 台達 2308 · 雙鴻 3324 · 奇鋐 3017 · 光寶 2301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36576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JhengHei"/>
              </a:rPr>
              <a:t>④ 全球與台灣主要供應商 — 受惠層級分類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C8A04A"/>
                </a:solidFill>
                <a:latin typeface="Microsoft JhengHei"/>
              </a:rPr>
              <a:t>Section 4  |  12/25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8A04A"/>
                </a:solidFill>
                <a:latin typeface="Microsoft JhengHei"/>
              </a:rPr>
              <a:t>全球 CSP 資本支出深度研究  ·  機構級科技產業研究  ·  2026/06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5683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8A04A"/>
                </a:solidFill>
                <a:latin typeface="Microsoft JhengHei"/>
              </a:rPr>
              <a:t>Confidential | For Research Use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960120"/>
          <a:ext cx="11612878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6686"/>
                <a:gridCol w="3433373"/>
                <a:gridCol w="5049078"/>
                <a:gridCol w="1413741"/>
              </a:tblGrid>
              <a:tr h="46101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供應鏈層</a:t>
                      </a:r>
                    </a:p>
                  </a:txBody>
                  <a:tcPr marL="54864" marR="54864" marT="27432" marB="27432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全球供應商</a:t>
                      </a:r>
                    </a:p>
                  </a:txBody>
                  <a:tcPr marL="54864" marR="54864" marT="27432" marB="27432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台灣供應商 (代號)</a:t>
                      </a:r>
                    </a:p>
                  </a:txBody>
                  <a:tcPr marL="54864" marR="54864" marT="27432" marB="27432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受惠層級</a:t>
                      </a:r>
                    </a:p>
                  </a:txBody>
                  <a:tcPr marL="54864" marR="54864" marT="27432" marB="27432">
                    <a:solidFill>
                      <a:srgbClr val="0B1F3A"/>
                    </a:solidFill>
                  </a:tcPr>
                </a:tc>
              </a:tr>
              <a:tr h="46101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Microsoft JhengHei"/>
                        </a:rPr>
                        <a:t>GPU / 加速器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NVIDIA、AMD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創意 3443 (IP)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核心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6101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Microsoft JhengHei"/>
                        </a:rPr>
                        <a:t>客製 ASIC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Broadcom、Marvell (~95% 協同設計)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世芯-KY 3661、創意 3443、聯發科 2454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核心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46101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Microsoft JhengHei"/>
                        </a:rPr>
                        <a:t>晶圓 / 先進封裝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TSMC、Intel 18A、Amkor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台積電 2330、日月光 3711、創意 3443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核心 (CoWoS 瓶頸)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6101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Microsoft JhengHei"/>
                        </a:rPr>
                        <a:t>HBM / 記憶體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SK Hynix、Samsung、Micron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(後段測試) —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核心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46101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Microsoft JhengHei"/>
                        </a:rPr>
                        <a:t>伺服器 ODM/機櫃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Supermicro、Dell、HPE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鴻海 2317、廣達 2382、緯穎 6669、緯創 3231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核心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6101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Microsoft JhengHei"/>
                        </a:rPr>
                        <a:t>網路交換器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Arista、Cisco、Broadcom、NVIDIA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智邦 2345、智易 3596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核心 / 次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46101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Microsoft JhengHei"/>
                        </a:rPr>
                        <a:t>光通訊 (模組)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InnoLight、Eoptolink、Coherent、Lumentum、Fabrinet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聯亞 3081、穩懋 3105、聯鈞 4979、波若威 3163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核心(上游)/次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6101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Microsoft JhengHei"/>
                        </a:rPr>
                        <a:t>連接器 / 銅纜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Amphenol、TE Connectivity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嘉澤 3533、貿聯 3665、健和興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核心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46101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Microsoft JhengHei"/>
                        </a:rPr>
                        <a:t>散熱 (液冷)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Vertiv、Boyd、CoolIT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雙鴻 3324、奇鋐 3017、台達 2308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核心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6101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Microsoft JhengHei"/>
                        </a:rPr>
                        <a:t>電源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Vertiv、Eaton、Schneider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台達電 2308、光寶 2301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核心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46101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Microsoft JhengHei"/>
                        </a:rPr>
                        <a:t>PCB / CCL / 載板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Ibiden、Shinko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欣興 3037、台燿 6274、台光電 2383、金像電 2368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核心 / 次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36576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JhengHei"/>
              </a:rPr>
              <a:t>⑤ 台股受惠族群分析 — 動能與風險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C8A04A"/>
                </a:solidFill>
                <a:latin typeface="Microsoft JhengHei"/>
              </a:rPr>
              <a:t>Section 5  |  13/25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8A04A"/>
                </a:solidFill>
                <a:latin typeface="Microsoft JhengHei"/>
              </a:rPr>
              <a:t>全球 CSP 資本支出深度研究  ·  機構級科技產業研究  ·  2026/06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5683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8A04A"/>
                </a:solidFill>
                <a:latin typeface="Microsoft JhengHei"/>
              </a:rPr>
              <a:t>Confidential | For Research Use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960120"/>
          <a:ext cx="116128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291840"/>
                <a:gridCol w="1188720"/>
                <a:gridCol w="3108960"/>
                <a:gridCol w="2560320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族群</a:t>
                      </a:r>
                    </a:p>
                  </a:txBody>
                  <a:tcPr marL="54864" marR="54864" marT="27432" marB="27432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代表公司 (代號)</a:t>
                      </a:r>
                    </a:p>
                  </a:txBody>
                  <a:tcPr marL="54864" marR="54864" marT="27432" marB="27432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關聯度</a:t>
                      </a:r>
                    </a:p>
                  </a:txBody>
                  <a:tcPr marL="54864" marR="54864" marT="27432" marB="27432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三年成長動能</a:t>
                      </a:r>
                    </a:p>
                  </a:txBody>
                  <a:tcPr marL="54864" marR="54864" marT="27432" marB="27432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最大風險</a:t>
                      </a:r>
                    </a:p>
                  </a:txBody>
                  <a:tcPr marL="54864" marR="54864" marT="27432" marB="27432">
                    <a:solidFill>
                      <a:srgbClr val="0B1F3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Microsoft JhengHei"/>
                        </a:rPr>
                        <a:t>伺服器 ODM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鴻海 2317、廣達 2382、緯穎 6669、緯創 3231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極高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AI 伺服器 ASP 數十倍於傳統機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毛利偏低、CSP 議價、規格急變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Microsoft JhengHei"/>
                        </a:rPr>
                        <a:t>網通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智邦 2345、智易 3596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高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800G→1.6T 升級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白牌競爭、以太網 vs IB 路線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Microsoft JhengHei"/>
                        </a:rPr>
                        <a:t>光通訊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聯亞 3081、穩懋 3105、聯鈞 4979、波若威 3163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中高 (上游最稀缺)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2.6x 出貨、EML 缺貨、CPO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模組組裝段被中廠壟斷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Microsoft JhengHei"/>
                        </a:rPr>
                        <a:t>散熱 (液冷)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雙鴻 3324、奇鋐 3017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極高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氣冷轉液冷滲透率跳升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技術驗證、價格競爭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Microsoft JhengHei"/>
                        </a:rPr>
                        <a:t>PCB / CCL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欣興 3037、台燿 6274、台光電 2383、金像電 2368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高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高速 M8/M9 材料升級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原料、認證週期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Microsoft JhengHei"/>
                        </a:rPr>
                        <a:t>電源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台達電 2308、光寶 2301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極高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GW 級資料中心、HVDC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競爭、原物料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Microsoft JhengHei"/>
                        </a:rPr>
                        <a:t>連接器 / 銅纜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嘉澤 3533、貿聯 3665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高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貿聯 GB200 ~35% 份額、單櫃 $12–14K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規格快速演進、轉光損失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Microsoft JhengHei"/>
                        </a:rPr>
                        <a:t>機殼 / 滑軌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勤誠 8210、川湖 8059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中高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機櫃量增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規模小、題材集中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Microsoft JhengHei"/>
                        </a:rPr>
                        <a:t>CoWoS / 封測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台積電 2330、日月光 3711、創意 3443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核心瓶頸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CoWoS 產能近翻倍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icrosoft JhengHei"/>
                        </a:rPr>
                        <a:t>客戶過度集中於 NVIDIA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274320" y="6355080"/>
            <a:ext cx="11612880" cy="228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382512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8A04A"/>
                </a:solidFill>
                <a:latin typeface="Microsoft JhengHei"/>
              </a:rPr>
              <a:t>▸  族群梯隊：第一(確定+不可替代) CoWoS+電源+散熱  ▸  第二 ODM+連接器  ▸  第三(高彈性) 光通訊上游+高速 CCL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36576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JhengHei"/>
              </a:rPr>
              <a:t>⑤ 量化卡位 — GB200/GB300 NVL72 ODM 機櫃市佔 (2025)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C8A04A"/>
                </a:solidFill>
                <a:latin typeface="Microsoft JhengHei"/>
              </a:rPr>
              <a:t>Section 5  |  14/25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8A04A"/>
                </a:solidFill>
                <a:latin typeface="Microsoft JhengHei"/>
              </a:rPr>
              <a:t>全球 CSP 資本支出深度研究  ·  機構級科技產業研究  ·  2026/06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5683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8A04A"/>
                </a:solidFill>
                <a:latin typeface="Microsoft JhengHei"/>
              </a:rPr>
              <a:t>Confidential | For Research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116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Foxconn / FII (2317)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2084832"/>
            <a:ext cx="7315200" cy="5029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34640" y="2084832"/>
            <a:ext cx="6339840" cy="50292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0" y="201168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JhengHei"/>
              </a:rPr>
              <a:t>52%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8803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Wistron (3231)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2953512"/>
            <a:ext cx="7315200" cy="5029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53512"/>
            <a:ext cx="2560320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0" y="28803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JhengHei"/>
              </a:rPr>
              <a:t>21%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7490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Quanta (2382)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40" y="3822192"/>
            <a:ext cx="7315200" cy="5029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34640" y="3822192"/>
            <a:ext cx="2316480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0" y="374904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JhengHei"/>
              </a:rPr>
              <a:t>19%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617719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Wiwynn (6669) + Others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4690871"/>
            <a:ext cx="7315200" cy="5029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34640" y="4690871"/>
            <a:ext cx="975360" cy="50292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0" y="4617719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JhengHei"/>
              </a:rPr>
              <a:t>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1005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JhengHei"/>
              </a:rPr>
              <a:t>▸  2025 全年 NVL72 ~2.7–2.9 萬台 → 2026 目標 7–8 萬台 (~2x)；鴻海份額看升至 55–60%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486400"/>
            <a:ext cx="11430000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8A04A"/>
                </a:solidFill>
                <a:latin typeface="Microsoft JhengHei"/>
              </a:rPr>
              <a:t>▸  CSP 主要對應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436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JhengHei"/>
              </a:rPr>
              <a:t>Foxconn ↔ Microsoft(GB200 最大買家)/Oracle/AWS/Google/CoreWeave   |   Quanta ↔ Meta/AWS/Google/Oracle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72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JhengHei"/>
              </a:rPr>
              <a:t>Wiwynn ↔ Meta(主)/Microsoft   |   Wistron ↔ Microsoft/AWS/Meta   |   Dell/SMCI ↔ CoreWeave/xAI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</a:rPr>
              <a:t>Source: TrendForce/36kr、Morgan Stanley、DigiTimes、Ming-Chi Kuo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36576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JhengHei"/>
              </a:rPr>
              <a:t>⑥ 市場最關注的議題 — 六大爭點速覽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C8A04A"/>
                </a:solidFill>
                <a:latin typeface="Microsoft JhengHei"/>
              </a:rPr>
              <a:t>Section 6  |  15/25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8A04A"/>
                </a:solidFill>
                <a:latin typeface="Microsoft JhengHei"/>
              </a:rPr>
              <a:t>全球 CSP 資本支出深度研究  ·  機構級科技產業研究  ·  2026/06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5683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8A04A"/>
                </a:solidFill>
                <a:latin typeface="Microsoft JhengHei"/>
              </a:rPr>
              <a:t>Confidential | For Research 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005840"/>
            <a:ext cx="5669280" cy="1691640"/>
          </a:xfrm>
          <a:prstGeom prst="rect">
            <a:avLst/>
          </a:prstGeom>
          <a:solidFill>
            <a:srgbClr val="F4F6FA"/>
          </a:solidFill>
          <a:ln w="635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005840"/>
            <a:ext cx="109728" cy="169164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09728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JhengHei"/>
              </a:rPr>
              <a:t>1.  AI CapEx 是否過熱？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508760"/>
            <a:ext cx="53949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2026 ~$7,000 億 (+60~77%)。Goldman: 2025–27 累計 $1.15T；Dell'Oro: 2030 DC capex $1.7T；McKinsey: 2030 累計 $6.7T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005840"/>
            <a:ext cx="5669280" cy="1691640"/>
          </a:xfrm>
          <a:prstGeom prst="rect">
            <a:avLst/>
          </a:prstGeom>
          <a:solidFill>
            <a:srgbClr val="F4F6FA"/>
          </a:solidFill>
          <a:ln w="635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005840"/>
            <a:ext cx="109728" cy="169164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09728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JhengHei"/>
              </a:rPr>
              <a:t>2.  ROI 是否下降？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508760"/>
            <a:ext cx="53949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Sequoia (David Cahn) $6,000 億營收缺口；Goldman (Jim Covello) 『$1T capex 換來什麼』vs 樂觀派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834640"/>
            <a:ext cx="5669280" cy="1691640"/>
          </a:xfrm>
          <a:prstGeom prst="rect">
            <a:avLst/>
          </a:prstGeom>
          <a:solidFill>
            <a:srgbClr val="F4F6FA"/>
          </a:solidFill>
          <a:ln w="635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834640"/>
            <a:ext cx="109728" cy="169164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92608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JhengHei"/>
              </a:rPr>
              <a:t>3.  AI 泡沫風險？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337560"/>
            <a:ext cx="53949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折舊年限拉長至 5–6 年；NVIDIA↔OpenAI↔Oracle↔CoreWeave 循環融資；Burry/Chanos 質疑獲利被美化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2834640"/>
            <a:ext cx="5669280" cy="1691640"/>
          </a:xfrm>
          <a:prstGeom prst="rect">
            <a:avLst/>
          </a:prstGeom>
          <a:solidFill>
            <a:srgbClr val="F4F6FA"/>
          </a:solidFill>
          <a:ln w="635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2834640"/>
            <a:ext cx="109728" cy="169164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92608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JhengHei"/>
              </a:rPr>
              <a:t>4.  電力供應問題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337560"/>
            <a:ext cx="53949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IEA DC 用電 2030 翻倍至 945 TWh；變壓器 128 週、燃氣輪機 7 年；近半美國 2026 新建案延宕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663440"/>
            <a:ext cx="5669280" cy="1691640"/>
          </a:xfrm>
          <a:prstGeom prst="rect">
            <a:avLst/>
          </a:prstGeom>
          <a:solidFill>
            <a:srgbClr val="F4F6FA"/>
          </a:solidFill>
          <a:ln w="635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663440"/>
            <a:ext cx="109728" cy="169164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75488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JhengHei"/>
              </a:rPr>
              <a:t>5.  GPU 供應是否過剩？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166360"/>
            <a:ext cx="53949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Blackwell/HBM 售罄 vs 舊 H100 租金鬆動；GPU 折舊懸崖 (depreciation cliff) 疑慮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4663440"/>
            <a:ext cx="5669280" cy="1691640"/>
          </a:xfrm>
          <a:prstGeom prst="rect">
            <a:avLst/>
          </a:prstGeom>
          <a:solidFill>
            <a:srgbClr val="F4F6FA"/>
          </a:solidFill>
          <a:ln w="635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4663440"/>
            <a:ext cx="109728" cy="169164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75488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JhengHei"/>
              </a:rPr>
              <a:t>6.  推論是否接棒訓練？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166360"/>
            <a:ext cx="53949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若推論 (可變現) 確為主體，ROI 論點成立——化解泡沫疑慮的關鍵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36576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JhengHei"/>
              </a:rPr>
              <a:t>⑥ Bull / Base / Bear 三情境分析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C8A04A"/>
                </a:solidFill>
                <a:latin typeface="Microsoft JhengHei"/>
              </a:rPr>
              <a:t>Section 6  |  16/25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8A04A"/>
                </a:solidFill>
                <a:latin typeface="Microsoft JhengHei"/>
              </a:rPr>
              <a:t>全球 CSP 資本支出深度研究  ·  機構級科技產業研究  ·  2026/06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5683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8A04A"/>
                </a:solidFill>
                <a:latin typeface="Microsoft JhengHei"/>
              </a:rPr>
              <a:t>Confidential | For Research 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60120"/>
            <a:ext cx="3840480" cy="640080"/>
          </a:xfrm>
          <a:prstGeom prst="rect">
            <a:avLst/>
          </a:prstGeom>
          <a:solidFill>
            <a:srgbClr val="1E8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05156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🐂  Bull 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325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JhengHei"/>
              </a:rPr>
              <a:t>主觀機率 ~35%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00200"/>
            <a:ext cx="3840480" cy="4572000"/>
          </a:xfrm>
          <a:prstGeom prst="rect">
            <a:avLst/>
          </a:prstGeom>
          <a:solidFill>
            <a:srgbClr val="F4F6FA"/>
          </a:solidFill>
          <a:ln w="6350">
            <a:solidFill>
              <a:srgbClr val="1E8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783080"/>
            <a:ext cx="3474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JhengHei"/>
              </a:rPr>
              <a:t>• 需求受供給約束、推論變現中、平台轉移不容缺席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96312"/>
            <a:ext cx="3474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JhengHei"/>
              </a:rPr>
              <a:t>• 2026 &gt;$7,000 億、2027 續創高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09544"/>
            <a:ext cx="3474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JhengHei"/>
              </a:rPr>
              <a:t>• Oracle RPO $638B、Azure AI 放量、token 千兆級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22776"/>
            <a:ext cx="3474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JhengHei"/>
              </a:rPr>
              <a:t>• 瓶頸 = 定價權 (賣方市場延續)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36008"/>
            <a:ext cx="3474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JhengHei"/>
              </a:rPr>
              <a:t>• 歷史類比：雲端 / 行動網路初期超前投資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349240"/>
            <a:ext cx="3474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JhengHei"/>
              </a:rPr>
              <a:t>• 受惠：全產業鏈普漲，瓶頸環節最甜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960120"/>
            <a:ext cx="3840480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105156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⚖️  Base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1325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JhengHei"/>
              </a:rPr>
              <a:t>主觀機率 ~45%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1600200"/>
            <a:ext cx="3840480" cy="4572000"/>
          </a:xfrm>
          <a:prstGeom prst="rect">
            <a:avLst/>
          </a:prstGeom>
          <a:solidFill>
            <a:srgbClr val="F4F6FA"/>
          </a:solidFill>
          <a:ln w="635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1783080"/>
            <a:ext cx="3474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JhengHei"/>
              </a:rPr>
              <a:t>• CapEx 續增但增速放緩，ROI 拉長但為正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2496312"/>
            <a:ext cx="3474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JhengHei"/>
              </a:rPr>
              <a:t>• 2026 達標；2027 增速由 +70% → +20~30%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209544"/>
            <a:ext cx="3474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JhengHei"/>
              </a:rPr>
              <a:t>• backlog 真實，但變現有時間差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922776"/>
            <a:ext cx="3474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JhengHei"/>
              </a:rPr>
              <a:t>• 瓶頸逐步緩解、ASP 回落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636008"/>
            <a:ext cx="3474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JhengHei"/>
              </a:rPr>
              <a:t>• 歷史類比：鐵路 / 電力等長週期回報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5349240"/>
            <a:ext cx="3474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JhengHei"/>
              </a:rPr>
              <a:t>• 受惠：分化——瓶頸環節 &gt; 同質代工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40" y="960120"/>
            <a:ext cx="3840480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105156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🐻  Bear Case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1325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JhengHei"/>
              </a:rPr>
              <a:t>主觀機率 ~20%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21040" y="1600200"/>
            <a:ext cx="3840480" cy="4572000"/>
          </a:xfrm>
          <a:prstGeom prst="rect">
            <a:avLst/>
          </a:prstGeom>
          <a:solidFill>
            <a:srgbClr val="F4F6FA"/>
          </a:solidFill>
          <a:ln w="63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1783080"/>
            <a:ext cx="3474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JhengHei"/>
              </a:rPr>
              <a:t>• 營收追不上 CapEx，折舊與電力反噬獲利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2496312"/>
            <a:ext cx="3474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JhengHei"/>
              </a:rPr>
              <a:t>• 2027 出現『數位化消化期』、個別玩家砍單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3209544"/>
            <a:ext cx="3474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JhengHei"/>
              </a:rPr>
              <a:t>• FCF 崩跌：GOOG -90%、AMZN 轉負、ORCL -$237 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3922776"/>
            <a:ext cx="3474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JhengHei"/>
              </a:rPr>
              <a:t>• 電力 / 折舊成為成本黑洞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4636008"/>
            <a:ext cx="3474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JhengHei"/>
              </a:rPr>
              <a:t>• 歷史類比：1999–2001 電信光纖過度建設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5349240"/>
            <a:ext cx="3474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JhengHei"/>
              </a:rPr>
              <a:t>• 受傷：高槓桿 neocloud、低毛利 ODM、過剩 GPU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36576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JhengHei"/>
              </a:rPr>
              <a:t>⑥ 本報告基準觀點 (Base Case)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C8A04A"/>
                </a:solidFill>
                <a:latin typeface="Microsoft JhengHei"/>
              </a:rPr>
              <a:t>Section 6  |  17/25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8A04A"/>
                </a:solidFill>
                <a:latin typeface="Microsoft JhengHei"/>
              </a:rPr>
              <a:t>全球 CSP 資本支出深度研究  ·  機構級科技產業研究  ·  2026/06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5683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8A04A"/>
                </a:solidFill>
                <a:latin typeface="Microsoft JhengHei"/>
              </a:rPr>
              <a:t>Confidential | For Research 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8A04A"/>
                </a:solidFill>
                <a:latin typeface="Microsoft JhengHei"/>
              </a:rPr>
              <a:t>BASE CASE — OUR HOUSE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94560"/>
            <a:ext cx="10332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JhengHei"/>
              </a:rPr>
              <a:t>需求是真實的——</a:t>
            </a:r>
          </a:p>
          <a:p>
            <a:pPr algn="l"/>
            <a:r>
              <a:rPr sz="1800" b="1">
                <a:solidFill>
                  <a:srgbClr val="FFFFFF"/>
                </a:solidFill>
                <a:latin typeface="Microsoft JhengHei"/>
              </a:rPr>
              <a:t>Oracle RPO 與 token 數據難以造假；</a:t>
            </a:r>
          </a:p>
          <a:p>
            <a:pPr algn="l"/>
            <a:r>
              <a:rPr sz="1800" b="1">
                <a:solidFill>
                  <a:srgbClr val="FFFFFF"/>
                </a:solidFill>
                <a:latin typeface="Microsoft JhengHei"/>
              </a:rPr>
              <a:t>但『需求真實』≠ 每一塊錢 CapEx 都有合理回報。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8A04A"/>
                </a:solidFill>
                <a:latin typeface="Microsoft JhengHei"/>
              </a:rPr>
              <a:t>2026–2027 最可能劇本：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103327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JhengHei"/>
              </a:rPr>
              <a:t>『總量續創高、內部分化加劇』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JhengHei"/>
              </a:rPr>
              <a:t/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JhengHei"/>
              </a:rPr>
              <a:t>▸  擁有定價權的瓶頸環節（CoWoS、HBM、電力、散熱）持續受惠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JhengHei"/>
              </a:rPr>
              <a:t>▸  同質化、無對沖現金流、依賴外部融資的玩家將首先承壓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36576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JhengHei"/>
              </a:rPr>
              <a:t>⑦ 面試加分洞察 Q1：CSP CapEx 持續成長，誰是最大受惠者？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C8A04A"/>
                </a:solidFill>
                <a:latin typeface="Microsoft JhengHei"/>
              </a:rPr>
              <a:t>Section 7  |  18/25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8A04A"/>
                </a:solidFill>
                <a:latin typeface="Microsoft JhengHei"/>
              </a:rPr>
              <a:t>全球 CSP 資本支出深度研究  ·  機構級科技產業研究  ·  2026/06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5683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8A04A"/>
                </a:solidFill>
                <a:latin typeface="Microsoft JhengHei"/>
              </a:rPr>
              <a:t>Confidential | For Research 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005840"/>
            <a:ext cx="11430000" cy="5486400"/>
          </a:xfrm>
          <a:prstGeom prst="rect">
            <a:avLst/>
          </a:prstGeom>
          <a:solidFill>
            <a:srgbClr val="F4F6FA"/>
          </a:solidFill>
          <a:ln w="635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JhengHei"/>
              </a:rPr>
              <a:t>▸  研究員級回答 — 分『絕對受惠』與『風險調整後受惠』兩層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8A04A"/>
                </a:solidFill>
                <a:latin typeface="Microsoft JhengHei"/>
              </a:rPr>
              <a:t>1️⃣  絕對金額最大受惠者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Microsoft JhengHei"/>
              </a:rPr>
              <a:t>NVIDIA——拿走 AI 伺服器 BOM 約七成。FY26 資料中心營收 $1,937 億 (+68%)，2026/4 季年化逾 $3,000 億。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00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8A04A"/>
                </a:solidFill>
                <a:latin typeface="Microsoft JhengHei"/>
              </a:rPr>
              <a:t>2️⃣  風險調整後最佳的受惠者 (研究員真正關注)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1188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Microsoft JhengHei"/>
              </a:rPr>
              <a:t>『不可替代的瓶頸』——才有持續定價權：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Microsoft JhengHei"/>
              </a:rPr>
              <a:t>• 台積電 CoWoS：連 NVIDIA 都要排隊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Microsoft JhengHei"/>
              </a:rPr>
              <a:t>• SK 海力士 HBM：2026 產能全數售罄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8A04A"/>
                </a:solidFill>
                <a:latin typeface="Microsoft JhengHei"/>
              </a:rPr>
              <a:t>3️⃣  台股最佳對應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4924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Microsoft JhengHei"/>
              </a:rPr>
              <a:t>• 台積電 2330 (CoWoS)、台達電 2308 (電源)、雙鴻/奇鋐 (液冷)——共同點：規格升級帶動 ASP，且競爭格局集中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Microsoft JhengHei"/>
              </a:rPr>
              <a:t>• 避開：純做整機、毛利率被 CSP 壓縮的同質代工，除非在液冷機櫃整合上有差異化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36576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JhengHei"/>
              </a:rPr>
              <a:t>⑦ 面試加分洞察 Q2：未來三年最值得追蹤的環節？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C8A04A"/>
                </a:solidFill>
                <a:latin typeface="Microsoft JhengHei"/>
              </a:rPr>
              <a:t>Section 7  |  19/25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8A04A"/>
                </a:solidFill>
                <a:latin typeface="Microsoft JhengHei"/>
              </a:rPr>
              <a:t>全球 CSP 資本支出深度研究  ·  機構級科技產業研究  ·  2026/06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5683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8A04A"/>
                </a:solidFill>
                <a:latin typeface="Microsoft JhengHei"/>
              </a:rPr>
              <a:t>Confidential | For Research 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005840"/>
            <a:ext cx="11430000" cy="5486400"/>
          </a:xfrm>
          <a:prstGeom prst="rect">
            <a:avLst/>
          </a:prstGeom>
          <a:solidFill>
            <a:srgbClr val="F4F6FA"/>
          </a:solidFill>
          <a:ln w="635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JhengHei"/>
              </a:rPr>
              <a:t>▸  答案：電力與先進封裝 — 邏輯是『瓶頸會外溢』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20240"/>
            <a:ext cx="2286000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402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2023–2025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1920240"/>
            <a:ext cx="8595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2103120"/>
            <a:ext cx="8321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瓶頸 = GPU + HBM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291840"/>
            <a:ext cx="2286000" cy="109728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6118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2026–2028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0" y="3291840"/>
            <a:ext cx="8595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8A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3474720"/>
            <a:ext cx="8321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外溢至 電力 (併網、變壓器、HVDC、液冷)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＋ CoWoS / CPO (光電共封裝)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Microsoft JhengHei"/>
              </a:rPr>
              <a:t>▸  我追蹤三個領先指標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94960"/>
            <a:ext cx="106984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Microsoft JhengHei"/>
              </a:rPr>
              <a:t>①  CoWoS 月產能擴張進度 (75K → 130K 片 / 月)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Microsoft JhengHei"/>
              </a:rPr>
              <a:t>②  資料中心電網併網排隊時間 ＋ 燃氣輪機 / SMR 交期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Microsoft JhengHei"/>
              </a:rPr>
              <a:t>③  1.6T 光模組與 EML 雷射缺口 — NVIDIA $40 億鎖定 Lumentum/Coherent 是鐵證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36576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JhengHei"/>
              </a:rPr>
              <a:t>⑦ 面試加分洞察 Q3：若 CapEx 放緩，誰先受衝擊？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C8A04A"/>
                </a:solidFill>
                <a:latin typeface="Microsoft JhengHei"/>
              </a:rPr>
              <a:t>Section 7  |  20/25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8A04A"/>
                </a:solidFill>
                <a:latin typeface="Microsoft JhengHei"/>
              </a:rPr>
              <a:t>全球 CSP 資本支出深度研究  ·  機構級科技產業研究  ·  2026/06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5683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8A04A"/>
                </a:solidFill>
                <a:latin typeface="Microsoft JhengHei"/>
              </a:rPr>
              <a:t>Confidential | For Research 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005840"/>
            <a:ext cx="11430000" cy="5486400"/>
          </a:xfrm>
          <a:prstGeom prst="rect">
            <a:avLst/>
          </a:prstGeom>
          <a:solidFill>
            <a:srgbClr val="F4F6FA"/>
          </a:solidFill>
          <a:ln w="635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JhengHei"/>
              </a:rPr>
              <a:t>▸  排序原則：離終端需求最遠 × 財務最脆弱 × 議價力最弱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74519"/>
            <a:ext cx="2194560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39111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①  最先受衝擊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1874519"/>
            <a:ext cx="8778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1947671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Microsoft JhengHei"/>
              </a:rPr>
              <a:t>高槓桿 neocloud (CoreWeave 等)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947671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GPU 抵押融資對利用率與殘值極度敏感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743200"/>
            <a:ext cx="2194560" cy="77724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907792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②  次受衝擊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2743200"/>
            <a:ext cx="8778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8A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0" y="2816352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Microsoft JhengHei"/>
              </a:rPr>
              <a:t>低毛利伺服器 ODM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2816352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訂單能見度短、規格急變、CSP 兩面議價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11879"/>
            <a:ext cx="2194560" cy="77724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776471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③  其次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0" y="3611879"/>
            <a:ext cx="8778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8A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0" y="3685031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Microsoft JhengHei"/>
              </a:rPr>
              <a:t>過剩世代 GPU 租賃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685031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舊款 H100 租金已在鬆動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480559"/>
            <a:ext cx="2194560" cy="777240"/>
          </a:xfrm>
          <a:prstGeom prst="rect">
            <a:avLst/>
          </a:prstGeom>
          <a:solidFill>
            <a:srgbClr val="1E8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645151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④  最後才會傷到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80" y="4480559"/>
            <a:ext cx="8778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1E8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08960" y="4553711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Microsoft JhengHei"/>
              </a:rPr>
              <a:t>瓶頸環節 (CoWoS / HBM / 電力)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553711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賣方市場、訂單能見度長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486400"/>
            <a:ext cx="11155680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6235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8A04A"/>
                </a:solidFill>
                <a:latin typeface="Microsoft JhengHei"/>
              </a:rPr>
              <a:t>▸  操作策略：做多瓶頸、放空過剩 — 而非一刀切看空整條供應鏈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98932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JhengHei"/>
              </a:rPr>
              <a:t>▸  CapEx 見頂的『語言訊號』：CSP 法說會口徑由『supply-constrained』轉為『optimizing utilization』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36576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JhengHei"/>
              </a:rPr>
              <a:t>Appendix A：關鍵數據錨點（記憶用）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C8A04A"/>
                </a:solidFill>
                <a:latin typeface="Microsoft JhengHei"/>
              </a:rPr>
              <a:t>Section A  |  21/25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8A04A"/>
                </a:solidFill>
                <a:latin typeface="Microsoft JhengHei"/>
              </a:rPr>
              <a:t>全球 CSP 資本支出深度研究  ·  機構級科技產業研究  ·  2026/06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5683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8A04A"/>
                </a:solidFill>
                <a:latin typeface="Microsoft JhengHei"/>
              </a:rPr>
              <a:t>Confidential | For Research Use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960120"/>
          <a:ext cx="1161288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6858000"/>
                <a:gridCol w="2377440"/>
              </a:tblGrid>
              <a:tr h="42203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主題</a:t>
                      </a:r>
                    </a:p>
                  </a:txBody>
                  <a:tcPr marL="54864" marR="54864" marT="27432" marB="27432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錨點數據</a:t>
                      </a:r>
                    </a:p>
                  </a:txBody>
                  <a:tcPr marL="54864" marR="54864" marT="27432" marB="27432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來源</a:t>
                      </a:r>
                    </a:p>
                  </a:txBody>
                  <a:tcPr marL="54864" marR="54864" marT="27432" marB="27432">
                    <a:solidFill>
                      <a:srgbClr val="0B1F3A"/>
                    </a:solidFill>
                  </a:tcPr>
                </a:tc>
              </a:tr>
              <a:tr h="42203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icrosoft JhengHei"/>
                        </a:rPr>
                        <a:t>四大 2025 CapEx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~$388–410B (YoY +73%)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CNBC / Tom's Hardware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2203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icrosoft JhengHei"/>
                        </a:rPr>
                        <a:t>四大 2026E CapEx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~$630–725B (+60~77%)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公司財報指引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42203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icrosoft JhengHei"/>
                        </a:rPr>
                        <a:t>NVIDIA FY26 DC 營收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$193.7B (+68%); Q1 FY27 $75.2B (年化 ~$300B)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NVIDIA 8-K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2203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icrosoft JhengHei"/>
                        </a:rPr>
                        <a:t>Oracle RPO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$98B (FY24) → $638B (FY26, +363%)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Oracle 8-K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42203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icrosoft JhengHei"/>
                        </a:rPr>
                        <a:t>B200 BOM 拆解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HBM 45% / 邏輯 22% / CoWoS 17% (~$6,400 製造成本)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Epoch AI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2203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icrosoft JhengHei"/>
                        </a:rPr>
                        <a:t>Rubin VR200 機櫃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~$7.8M；HBM4+LPDDR5X 達 $2M (25%)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Morgan Stanley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42203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icrosoft JhengHei"/>
                        </a:rPr>
                        <a:t>HBM 市場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$18.2B (24) → $46.7B (25, +156%); SK / Micron 2026 售罄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TrendForce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2203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icrosoft JhengHei"/>
                        </a:rPr>
                        <a:t>CoWoS 產能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3.5–4 萬 (24) → 7.5 萬 (25) → 12–13 萬 (26 目標) 片/月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TrendForce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42203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icrosoft JhengHei"/>
                        </a:rPr>
                        <a:t>AI 伺服器市場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$187B (24) → $298B (25) → 佔總伺服器 74% (26)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TrendForce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2203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icrosoft JhengHei"/>
                        </a:rPr>
                        <a:t>DC 用電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2025 +17% YoY；2030 翻倍至 945 TWh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IEA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42203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icrosoft JhengHei"/>
                        </a:rPr>
                        <a:t>設備交期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變壓器 128 週、GSU 143 週、燃氣輪機 7 年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Power Magazine / GE Vernova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220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icrosoft JhengHei"/>
                        </a:rPr>
                        <a:t>800G+ 出貨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2,400 萬 (25) → 6,300 萬顆 (26, +2.6x)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TrendForce / LightCounting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36576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JhengHei"/>
              </a:rPr>
              <a:t>Appendix B：主要資料來源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C8A04A"/>
                </a:solidFill>
                <a:latin typeface="Microsoft JhengHei"/>
              </a:rPr>
              <a:t>Section A  |  22/25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8A04A"/>
                </a:solidFill>
                <a:latin typeface="Microsoft JhengHei"/>
              </a:rPr>
              <a:t>全球 CSP 資本支出深度研究  ·  機構級科技產業研究  ·  2026/06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5683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8A04A"/>
                </a:solidFill>
                <a:latin typeface="Microsoft JhengHei"/>
              </a:rPr>
              <a:t>Confidential | For Research 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005840"/>
            <a:ext cx="5577840" cy="5486400"/>
          </a:xfrm>
          <a:prstGeom prst="rect">
            <a:avLst/>
          </a:prstGeom>
          <a:solidFill>
            <a:srgbClr val="F4F6FA"/>
          </a:solidFill>
          <a:ln w="635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1430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JhengHei"/>
              </a:rPr>
              <a:t>▸  第一手 (Primary)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5212080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• Amazon 10-K / Q4 法說會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• Microsoft 8-K (FY2023–FY2026)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• Alphabet 8-K / 10-K (FY2023–FY2026)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• Meta 8-K (FY2024)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• Oracle 8-K (FY24–FY26, RPO/CapEx)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• NVIDIA Q3/Q4 FY26 8-K, Q1 FY27 8-K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• Broadcom / Marvell / AMD / Lumentum 8-K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• TSMC Q1 2026 法說會 (CapEx &amp; CoWoS)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• Vertiv / Eaton / GE Vernova 財報 / IR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005840"/>
            <a:ext cx="5669280" cy="5486400"/>
          </a:xfrm>
          <a:prstGeom prst="rect">
            <a:avLst/>
          </a:prstGeom>
          <a:solidFill>
            <a:srgbClr val="F4F6FA"/>
          </a:solidFill>
          <a:ln w="635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1430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JhengHei"/>
              </a:rPr>
              <a:t>▸  第二手 (Industry Research)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554480"/>
            <a:ext cx="5212080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• TrendForce：HBM / NAND / CoWoS / AI 伺服器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• Dell'Oro：DC 交換器 / 液冷 / DCPI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• LightCounting：光收發模組市場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• Counterpoint：HBM / DRAM 市占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• SemiAnalysis：AI 伺服器成本拆解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• Epoch AI：B200 / 1GW DC 成本模型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• IEA / EPRI：資料中心用電預測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• Goldman Sachs / Morgan Stanley：估值與 BOM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• McKinsey：2030 $6.7T 資料中心累計需求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Microsoft JhengHei"/>
              </a:rPr>
              <a:t>• CNBC、Tom's Hardware、Sherwood News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36576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JhengHei"/>
              </a:rPr>
              <a:t>Appendix C：信心分級與免責聲明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C8A04A"/>
                </a:solidFill>
                <a:latin typeface="Microsoft JhengHei"/>
              </a:rPr>
              <a:t>Section A  |  23/25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8A04A"/>
                </a:solidFill>
                <a:latin typeface="Microsoft JhengHei"/>
              </a:rPr>
              <a:t>全球 CSP 資本支出深度研究  ·  機構級科技產業研究  ·  2026/06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5683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8A04A"/>
                </a:solidFill>
                <a:latin typeface="Microsoft JhengHei"/>
              </a:rPr>
              <a:t>Confidential | For Research Use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005840"/>
          <a:ext cx="1142999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858000"/>
                <a:gridCol w="2560319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信心分級</a:t>
                      </a:r>
                    </a:p>
                  </a:txBody>
                  <a:tcPr marL="54864" marR="54864" marT="27432" marB="27432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適用範圍</a:t>
                      </a:r>
                    </a:p>
                  </a:txBody>
                  <a:tcPr marL="54864" marR="54864" marT="27432" marB="27432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建議讀法</a:t>
                      </a:r>
                    </a:p>
                  </a:txBody>
                  <a:tcPr marL="54864" marR="54864" marT="27432" marB="27432">
                    <a:solidFill>
                      <a:srgbClr val="0B1F3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icrosoft JhengHei"/>
                        </a:rPr>
                        <a:t>① 高信心 (High)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SEC 財報絕對值、Oracle RPO、HBM/NAND 售罄狀態、各公司 2026 指引、NVIDIA DC 營收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可直接引用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icrosoft JhengHei"/>
                        </a:rPr>
                        <a:t>② 中信心 (Medium)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市占率百分比、BOM 拆解占比、CoWoS 產能數字 (跨來源估算)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以 ±10–20% 區間理解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icrosoft JhengHei"/>
                        </a:rPr>
                        <a:t>③ 估算 (Estimate)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CapEx/Revenue、CapEx/OCF 比率、2026 FCF 預估 (分析師模型)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Microsoft JhengHei"/>
                        </a:rPr>
                        <a:t>為情境推演用、非公司公告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5760" y="4023360"/>
            <a:ext cx="11430000" cy="23774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8A04A"/>
                </a:solidFill>
                <a:latin typeface="Microsoft JhengHei"/>
              </a:rPr>
              <a:t>DISCLAIMER  免責聲明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63440"/>
            <a:ext cx="110642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JhengHei"/>
              </a:rPr>
              <a:t>• 本簡報為產業研究與投資分析用途，所有前瞻數字 (2026E) 為公司指引或分析師估計，非實際結果。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Microsoft JhengHei"/>
              </a:rPr>
              <a:t>• 本簡報不構成任何投資建議；個股提及僅為產業關聯說明，不代表買賣建議。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Microsoft JhengHei"/>
              </a:rPr>
              <a:t>• 部分原始機構頁面 (TrendForce / Dell'Oro / SemiAnalysis 等) 無法直接自動抓取，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Microsoft JhengHei"/>
              </a:rPr>
              <a:t>  相關數字係透過多方來源交叉佐證，正式對外引用前建議再以原始 PDF / 財報核對。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Microsoft JhengHei"/>
              </a:rPr>
              <a:t>• 報告完成日：2026 年 6 月。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4572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8A04A"/>
                </a:solidFill>
                <a:latin typeface="Microsoft JhengHei"/>
              </a:rPr>
              <a:t>INSTITUTIONAL EQUITY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icrosoft JhengHei"/>
              </a:rPr>
              <a:t>Thank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C8A04A"/>
                </a:solidFill>
                <a:latin typeface="Microsoft JhengHei"/>
              </a:rPr>
              <a:t>Q &amp;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JhengHei"/>
              </a:rPr>
              <a:t>7 部分  ·  25 張投影片  ·  涵蓋 5 家 CSP + 全球與台灣供應鏈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JhengHei"/>
              </a:rPr>
              <a:t/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JhengHei"/>
              </a:rPr>
              <a:t>本研究報告 Markdown 全文已同步推送至 Git 分支：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JhengHei"/>
              </a:rPr>
              <a:t>    claude/trusting-thompson-f9wa47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JhengHei"/>
              </a:rPr>
              <a:t/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JhengHei"/>
              </a:rPr>
              <a:t>建議搭配：個股估值試算  ·  Bull/Base/Bear EPS 推演  ·  目標價設定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